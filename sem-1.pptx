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D380A-B25C-4554-9D12-6A864851EAA3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53628-D422-490A-B670-D481D4DAF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F2E77-788A-9C1E-A253-E519B641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4A005-A4AE-48B5-9B72-AC59F9D0C9F3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98E3-ED2D-6826-7063-38EB8891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61BF-6988-026C-DC94-2566B9B7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2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47E8-ECBE-386A-59D3-99FCD9C8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C658-EDE0-BA68-5E59-5A8AE19B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B6D6-EA20-5153-F9E6-69BE378D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8551-6A6D-0059-4C2D-C744DB80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A687-E925-6CDC-8C7E-7C88CD08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9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5B58-257B-3360-2D4E-3A189798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5218-484E-2B62-9425-B97EE0F44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002CB-4614-0299-EDD5-8B440101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454-2FB9-4C8F-B182-7B2E5743343C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11BC-DD39-8C40-2266-8449E8E2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0166-28D8-2DDD-636F-FD317779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72B2-850D-2F4C-6716-85D5B2D7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00FC-42E7-C5BA-C8AC-E0FEED1D1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F8609-C937-CBCC-AEB9-BF37DF681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492CB-5016-8804-EC3D-0E23BC9D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650C-01B7-4756-A73F-6F4EA1E5431E}" type="datetime1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2CA0-62A7-3F15-B164-0AEED105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D77B4-97C3-0109-492A-4CB1B065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0D8A-FA99-1027-FEC9-8FDFF362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42391-9774-2E4C-C170-3FE9774B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1A0E3-5607-927A-7181-9A807B9F4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8725F-934A-682D-D056-CDE6C388B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43AAD-ACFD-0BD4-4A71-BA3ECBF99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2CC47-F10F-8A91-81CA-F3A85726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1D95-9BF9-4CE1-A0EA-90FF297D19D0}" type="datetime1">
              <a:rPr lang="en-US" smtClean="0"/>
              <a:t>28-Oct-26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C06B0-830C-FBEE-FECE-C6406EF9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B5166-40BA-5202-2D38-1BA48B8A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52DB-965F-D567-974C-4831D027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18B86-2CE2-5395-B958-F12A100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80EBF-8A8A-40F0-86A7-7286F440E0F3}" type="datetime1">
              <a:rPr lang="en-US" smtClean="0"/>
              <a:t>28-Oct-26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87C2-51F3-E8A5-28C0-2C405A47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BC180-A612-3483-A0E1-6AB31CA0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F26E7-965A-6AC1-351E-3BF6ACBD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7337-48F7-4AF7-9A31-C231AA9DABEB}" type="datetime1">
              <a:rPr lang="en-US" smtClean="0"/>
              <a:t>28-Oct-26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F3A08-7728-7EE4-12FE-99584A06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1E605-1894-7F38-96D7-5711BA10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D52C-F553-7253-3DE6-B294241B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EE6A-61D8-D2C7-AC2A-BAD820BA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4D0E1-40CD-A415-635E-7B576877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D09A8-16DE-895E-2FE5-490F44A7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0AB9-8616-4B55-B544-8181381708AB}" type="datetime1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1FF2-B792-3CF2-49A0-9DAB4221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FA9E5-F4BF-CDB1-5103-4CD6FA63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2051-2331-215D-2FDD-370D7A88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0711D-48C9-0C54-AC74-04A3AAD45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EC347-4A26-72BD-E2FC-29DFEC1F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5EAAE-4733-3414-1943-04DD07D9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D518-531C-4414-B657-2CD37CCA6B63}" type="datetime1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23DCB-8125-80EF-6294-84DE2F57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398A8-CDCE-094C-42A2-3D874E3B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48C1-0408-D8AF-69A2-588425BC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A3F95-D448-1D26-F510-A0FB77EC6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9917-0033-D989-92E8-CE98F113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7074-5979-461C-BB0D-F24AD7AEA7D7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D59D-1B12-2463-BE4C-9D8702C2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DA28-4071-592C-92AE-FA0CA34D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4654F-0ECF-8954-9B9E-9F1990569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3D16A-A760-D48C-1E66-0E3F9C8F4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E059-1E45-81B2-2FD4-F0902482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A7B2-F8F1-4C99-9A58-0619E9B4236C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B7F42-4E93-CA7A-A3D6-1E12EACC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4C34D-6493-F571-4B38-C06CB99F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BAA540-A6A4-6FCD-6D2C-846752BF3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EF68A88-107A-0C66-FB5E-4F233A6E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BD8FF30-CF30-5046-A4F8-DF90BEA4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17/05/1448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F63F43A-A37B-605A-2B45-2B3F2178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A362067-5D85-1320-558D-640A023C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6011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C9861-6315-7D19-1FC2-C18236A7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EFFF-1B3C-0223-E81F-FF7E22B49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9D6D-05BC-2BD6-8D4D-8631CA54E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F99F-ECCB-4E1D-B4DE-BB12197DD00B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9DBC-854C-A039-E3A7-5A146D3F6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828-C825-6DB3-1130-384DF2FBA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8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>
            <a:extLst>
              <a:ext uri="{FF2B5EF4-FFF2-40B4-BE49-F238E27FC236}">
                <a16:creationId xmlns:a16="http://schemas.microsoft.com/office/drawing/2014/main" id="{EC4BE42B-7A9E-9EF6-8A1D-5DFF837B8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728" y="149998"/>
            <a:ext cx="3188973" cy="215307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53ABC8F4-C832-0BDB-7D80-8C04CA920AD2}"/>
              </a:ext>
            </a:extLst>
          </p:cNvPr>
          <p:cNvSpPr txBox="1"/>
          <p:nvPr/>
        </p:nvSpPr>
        <p:spPr>
          <a:xfrm>
            <a:off x="1" y="587890"/>
            <a:ext cx="4807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Software Engineering and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61D0EE33-F3A1-7243-3426-910356B531E2}"/>
              </a:ext>
            </a:extLst>
          </p:cNvPr>
          <p:cNvSpPr txBox="1"/>
          <p:nvPr/>
        </p:nvSpPr>
        <p:spPr>
          <a:xfrm>
            <a:off x="2160266" y="3086803"/>
            <a:ext cx="7871459" cy="318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Shahd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Hilal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Firas Al-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Zoubi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ar-SA" sz="1800" b="1" kern="1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Supervised By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ME. Maher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Sarem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Eng.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Razan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Rizk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436E9F-C34B-0353-472D-ECB73184841E}"/>
              </a:ext>
            </a:extLst>
          </p:cNvPr>
          <p:cNvSpPr txBox="1"/>
          <p:nvPr/>
        </p:nvSpPr>
        <p:spPr>
          <a:xfrm>
            <a:off x="2859312" y="2198698"/>
            <a:ext cx="6284684" cy="89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AE" sz="1800" b="1" kern="10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نظام حجز مواعيد للمؤسسات الصغيرة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Appointment Booking System for Small Businesses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71A77-C7D1-4721-BF97-772DE2AAFA01}"/>
              </a:ext>
            </a:extLst>
          </p:cNvPr>
          <p:cNvSpPr txBox="1"/>
          <p:nvPr/>
        </p:nvSpPr>
        <p:spPr>
          <a:xfrm>
            <a:off x="2953654" y="6270110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2026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9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7FC2-E2D6-AA88-BA76-78269905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0DA9-B68A-02B5-F06B-4E1F163F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E9A2F-3005-24AC-8E5D-EB352139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FC31A-9169-D8D3-0832-75487FE0E92E}"/>
              </a:ext>
            </a:extLst>
          </p:cNvPr>
          <p:cNvSpPr txBox="1"/>
          <p:nvPr/>
        </p:nvSpPr>
        <p:spPr>
          <a:xfrm>
            <a:off x="969264" y="475488"/>
            <a:ext cx="10305288" cy="118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Importance</a:t>
            </a:r>
            <a:endParaRPr lang="en-US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45720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L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7B18E5DE-9D48-459C-B000-230A82F4416C}"/>
              </a:ext>
            </a:extLst>
          </p:cNvPr>
          <p:cNvSpPr/>
          <p:nvPr/>
        </p:nvSpPr>
        <p:spPr>
          <a:xfrm>
            <a:off x="609600" y="2680692"/>
            <a:ext cx="3505200" cy="2205037"/>
          </a:xfrm>
          <a:prstGeom prst="roundRect">
            <a:avLst>
              <a:gd name="adj" fmla="val 6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9A12E707-4F5D-4EC2-A5F0-5E9E36F5EF1B}"/>
              </a:ext>
            </a:extLst>
          </p:cNvPr>
          <p:cNvSpPr/>
          <p:nvPr/>
        </p:nvSpPr>
        <p:spPr>
          <a:xfrm>
            <a:off x="4343400" y="2787848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B0F05B0A-C0B7-4BCD-8EBF-2C6D068CC736}"/>
              </a:ext>
            </a:extLst>
          </p:cNvPr>
          <p:cNvSpPr/>
          <p:nvPr/>
        </p:nvSpPr>
        <p:spPr>
          <a:xfrm>
            <a:off x="8077200" y="2680692"/>
            <a:ext cx="3505200" cy="2205037"/>
          </a:xfrm>
          <a:prstGeom prst="roundRect">
            <a:avLst>
              <a:gd name="adj" fmla="val 6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938CA0E-EF2F-4C96-9A53-BB4BBB6E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95017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7A9FA018-D019-4456-B023-448DFF96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02173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E4D1CC68-629F-4888-9F4A-8C76183BF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9501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5D938B1-F656-4A26-8A6F-A647A3260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128367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D3A091FA-3F6A-4ACF-8452-CDFEE272B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235523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56B814FB-AF93-48BD-B49E-0D185CCD1A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3128367"/>
            <a:ext cx="171450" cy="190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5BCDD0-B8DC-4015-A171-DA1B0C46EEBB}"/>
              </a:ext>
            </a:extLst>
          </p:cNvPr>
          <p:cNvSpPr txBox="1"/>
          <p:nvPr/>
        </p:nvSpPr>
        <p:spPr>
          <a:xfrm>
            <a:off x="923925" y="3566517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Eliminating Manual Delays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AF7EA4-B34F-4098-B676-964F270EBE62}"/>
              </a:ext>
            </a:extLst>
          </p:cNvPr>
          <p:cNvSpPr txBox="1"/>
          <p:nvPr/>
        </p:nvSpPr>
        <p:spPr>
          <a:xfrm>
            <a:off x="923925" y="3928467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Replaces phone calls and physical queues with instant 24/7 automated slot reservations.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643806-F321-4D83-816A-C515BEC0ACDB}"/>
              </a:ext>
            </a:extLst>
          </p:cNvPr>
          <p:cNvSpPr txBox="1"/>
          <p:nvPr/>
        </p:nvSpPr>
        <p:spPr>
          <a:xfrm>
            <a:off x="4657725" y="3673673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Resource Optimization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39436C-E50E-4B76-9D18-17C8D6E7ACA8}"/>
              </a:ext>
            </a:extLst>
          </p:cNvPr>
          <p:cNvSpPr txBox="1"/>
          <p:nvPr/>
        </p:nvSpPr>
        <p:spPr>
          <a:xfrm>
            <a:off x="4657725" y="4035623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Maximizes service provider capacity and balances workload across active shifts.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03ED4B-2216-4F97-8180-4A6E83AE340C}"/>
              </a:ext>
            </a:extLst>
          </p:cNvPr>
          <p:cNvSpPr txBox="1"/>
          <p:nvPr/>
        </p:nvSpPr>
        <p:spPr>
          <a:xfrm>
            <a:off x="8391525" y="3928467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Automated push notifications and SMS reminders reduce missed bookings drastically.</a:t>
            </a:r>
          </a:p>
        </p:txBody>
      </p:sp>
    </p:spTree>
    <p:extLst>
      <p:ext uri="{BB962C8B-B14F-4D97-AF65-F5344CB8AC3E}">
        <p14:creationId xmlns:p14="http://schemas.microsoft.com/office/powerpoint/2010/main" val="214356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F87B-DB91-279C-A082-B3653333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2DDC9-5CB8-7BD5-C787-157F1291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69BB-1E0D-E2FB-517B-56C9C8D1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D8816-9B85-AB6D-1909-13902986402F}"/>
              </a:ext>
            </a:extLst>
          </p:cNvPr>
          <p:cNvSpPr txBox="1"/>
          <p:nvPr/>
        </p:nvSpPr>
        <p:spPr>
          <a:xfrm>
            <a:off x="534162" y="303395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Project Goals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4A2B6194-7BA3-43EA-879B-677D60A80F95}"/>
              </a:ext>
            </a:extLst>
          </p:cNvPr>
          <p:cNvSpPr/>
          <p:nvPr/>
        </p:nvSpPr>
        <p:spPr>
          <a:xfrm>
            <a:off x="609600" y="2573535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3066A91B-B3A7-46FC-A1A5-034DD782D6DF}"/>
              </a:ext>
            </a:extLst>
          </p:cNvPr>
          <p:cNvSpPr/>
          <p:nvPr/>
        </p:nvSpPr>
        <p:spPr>
          <a:xfrm>
            <a:off x="6210300" y="2573535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FB50AF7F-A257-440F-9930-C55F04E0AE90}"/>
              </a:ext>
            </a:extLst>
          </p:cNvPr>
          <p:cNvSpPr/>
          <p:nvPr/>
        </p:nvSpPr>
        <p:spPr>
          <a:xfrm>
            <a:off x="609600" y="3897510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CE1F704-93B9-498C-885D-D866D9FD7205}"/>
              </a:ext>
            </a:extLst>
          </p:cNvPr>
          <p:cNvSpPr/>
          <p:nvPr/>
        </p:nvSpPr>
        <p:spPr>
          <a:xfrm>
            <a:off x="6210300" y="3897510"/>
            <a:ext cx="53721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9DCB7-A6A9-4840-B1B1-9AC036073D35}"/>
              </a:ext>
            </a:extLst>
          </p:cNvPr>
          <p:cNvSpPr/>
          <p:nvPr/>
        </p:nvSpPr>
        <p:spPr>
          <a:xfrm>
            <a:off x="609600" y="2573535"/>
            <a:ext cx="38100" cy="1095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F472B0-6B2D-4CEA-86BE-563333749A04}"/>
              </a:ext>
            </a:extLst>
          </p:cNvPr>
          <p:cNvSpPr/>
          <p:nvPr/>
        </p:nvSpPr>
        <p:spPr>
          <a:xfrm>
            <a:off x="6210300" y="2573535"/>
            <a:ext cx="38100" cy="10953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205108-D5BB-41C1-9EA6-EC4665AE9C8E}"/>
              </a:ext>
            </a:extLst>
          </p:cNvPr>
          <p:cNvSpPr/>
          <p:nvPr/>
        </p:nvSpPr>
        <p:spPr>
          <a:xfrm>
            <a:off x="609600" y="3897510"/>
            <a:ext cx="38100" cy="10953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EC3F9-706B-407C-A284-4F59872FFDCC}"/>
              </a:ext>
            </a:extLst>
          </p:cNvPr>
          <p:cNvSpPr/>
          <p:nvPr/>
        </p:nvSpPr>
        <p:spPr>
          <a:xfrm>
            <a:off x="6210300" y="3897510"/>
            <a:ext cx="38100" cy="1095375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BD90511D-6142-41E8-8CD3-49FD11E5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40235"/>
            <a:ext cx="200025" cy="60007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86BA5F6F-AAF0-4CD9-AEC8-6949A8B6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840235"/>
            <a:ext cx="228600" cy="600075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330D1F84-2485-4E4D-91F0-65238EC09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164210"/>
            <a:ext cx="228600" cy="60007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6AFAC2F9-207C-4DF2-AE3A-AA7D417FA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164210"/>
            <a:ext cx="257175" cy="6000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B9DDD47-EBD8-4F98-9659-C7353227E682}"/>
              </a:ext>
            </a:extLst>
          </p:cNvPr>
          <p:cNvSpPr txBox="1"/>
          <p:nvPr/>
        </p:nvSpPr>
        <p:spPr>
          <a:xfrm>
            <a:off x="1228725" y="2802135"/>
            <a:ext cx="59382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Real-Time Dynamic Scheduling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5B9B8-AB3E-4B05-B7B8-3ED1F106B6C3}"/>
              </a:ext>
            </a:extLst>
          </p:cNvPr>
          <p:cNvSpPr txBox="1"/>
          <p:nvPr/>
        </p:nvSpPr>
        <p:spPr>
          <a:xfrm>
            <a:off x="1228725" y="3078360"/>
            <a:ext cx="4619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Provide instantaneous synchronization between provider calendars and customer views.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C9CDA-62B0-493C-8846-8BD25089BEAD}"/>
              </a:ext>
            </a:extLst>
          </p:cNvPr>
          <p:cNvSpPr txBox="1"/>
          <p:nvPr/>
        </p:nvSpPr>
        <p:spPr>
          <a:xfrm>
            <a:off x="6858000" y="2802135"/>
            <a:ext cx="5334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Centralized Service Catalog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BE5A61-F3A0-4E01-9BD0-EBF58F1F58F8}"/>
              </a:ext>
            </a:extLst>
          </p:cNvPr>
          <p:cNvSpPr txBox="1"/>
          <p:nvPr/>
        </p:nvSpPr>
        <p:spPr>
          <a:xfrm>
            <a:off x="6858000" y="3078360"/>
            <a:ext cx="4591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Enable administrators to configure dynamic service duration, pricing, and staff availability.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32B941-57A0-41F9-A7C1-FB3D51A9C09F}"/>
              </a:ext>
            </a:extLst>
          </p:cNvPr>
          <p:cNvSpPr txBox="1"/>
          <p:nvPr/>
        </p:nvSpPr>
        <p:spPr>
          <a:xfrm>
            <a:off x="1257300" y="4126110"/>
            <a:ext cx="59007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Secure Access &amp; RBAC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2B64E0-89D7-49B9-B3D1-7E8C1DE18CFC}"/>
              </a:ext>
            </a:extLst>
          </p:cNvPr>
          <p:cNvSpPr txBox="1"/>
          <p:nvPr/>
        </p:nvSpPr>
        <p:spPr>
          <a:xfrm>
            <a:off x="1257300" y="4402335"/>
            <a:ext cx="4591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Role-Based Access Control enforcing strict isolation between Clients, Staff, and Admins.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98E6C1-BAAA-49E2-BBFA-0A5504C158FD}"/>
              </a:ext>
            </a:extLst>
          </p:cNvPr>
          <p:cNvSpPr txBox="1"/>
          <p:nvPr/>
        </p:nvSpPr>
        <p:spPr>
          <a:xfrm>
            <a:off x="6886575" y="4126110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Operational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5CE3C-389E-4B5A-BE70-F1AA5B62631E}"/>
              </a:ext>
            </a:extLst>
          </p:cNvPr>
          <p:cNvSpPr txBox="1"/>
          <p:nvPr/>
        </p:nvSpPr>
        <p:spPr>
          <a:xfrm>
            <a:off x="6886575" y="4402335"/>
            <a:ext cx="45624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Deliver actionable dashboards detailing peak booking hours, completion rates, and revenue.</a:t>
            </a:r>
          </a:p>
        </p:txBody>
      </p:sp>
    </p:spTree>
    <p:extLst>
      <p:ext uri="{BB962C8B-B14F-4D97-AF65-F5344CB8AC3E}">
        <p14:creationId xmlns:p14="http://schemas.microsoft.com/office/powerpoint/2010/main" val="347373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E7ED3-C13B-D163-23FA-3ACDDB15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B2C3-8337-C2D2-EA88-9E4BC9F9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1E66-EBB7-BF9F-40E8-B58F9CB7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444CC-9A95-8B29-7BB5-90CFC2E2D96D}"/>
              </a:ext>
            </a:extLst>
          </p:cNvPr>
          <p:cNvSpPr txBox="1"/>
          <p:nvPr/>
        </p:nvSpPr>
        <p:spPr>
          <a:xfrm>
            <a:off x="417576" y="463187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Literature Review and Previous Work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A739150E-6E22-449F-8B0E-0E6995739AD0}"/>
              </a:ext>
            </a:extLst>
          </p:cNvPr>
          <p:cNvSpPr/>
          <p:nvPr/>
        </p:nvSpPr>
        <p:spPr>
          <a:xfrm>
            <a:off x="609600" y="248781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58760803-0705-4495-BE11-C0D84CB1D901}"/>
              </a:ext>
            </a:extLst>
          </p:cNvPr>
          <p:cNvSpPr/>
          <p:nvPr/>
        </p:nvSpPr>
        <p:spPr>
          <a:xfrm>
            <a:off x="4330600" y="2487810"/>
            <a:ext cx="3530649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4D9A1A2-04BF-45F8-9B2C-D8BB584694E2}"/>
              </a:ext>
            </a:extLst>
          </p:cNvPr>
          <p:cNvSpPr/>
          <p:nvPr/>
        </p:nvSpPr>
        <p:spPr>
          <a:xfrm>
            <a:off x="8051750" y="248781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D716EC10-E8D6-4768-9E77-2C0AA600E23B}"/>
              </a:ext>
            </a:extLst>
          </p:cNvPr>
          <p:cNvSpPr/>
          <p:nvPr/>
        </p:nvSpPr>
        <p:spPr>
          <a:xfrm>
            <a:off x="609600" y="387846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8CBE1AA-25A9-4625-88F4-4066111BD0DF}"/>
              </a:ext>
            </a:extLst>
          </p:cNvPr>
          <p:cNvSpPr/>
          <p:nvPr/>
        </p:nvSpPr>
        <p:spPr>
          <a:xfrm>
            <a:off x="4330600" y="3878460"/>
            <a:ext cx="3530649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47893A21-3C21-46A8-9D4A-3A73F72CB684}"/>
              </a:ext>
            </a:extLst>
          </p:cNvPr>
          <p:cNvSpPr/>
          <p:nvPr/>
        </p:nvSpPr>
        <p:spPr>
          <a:xfrm>
            <a:off x="8051750" y="3878460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E9BF97-12CF-434D-B05D-A216528A48D1}"/>
              </a:ext>
            </a:extLst>
          </p:cNvPr>
          <p:cNvSpPr txBox="1"/>
          <p:nvPr/>
        </p:nvSpPr>
        <p:spPr>
          <a:xfrm>
            <a:off x="809625" y="268783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01 [Ref 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31BAB2-CDE6-4BA7-A576-7A8493770C95}"/>
              </a:ext>
            </a:extLst>
          </p:cNvPr>
          <p:cNvSpPr txBox="1"/>
          <p:nvPr/>
        </p:nvSpPr>
        <p:spPr>
          <a:xfrm>
            <a:off x="809625" y="2868810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Calendly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CAB264-D410-4AB1-8F5A-9069464FC725}"/>
              </a:ext>
            </a:extLst>
          </p:cNvPr>
          <p:cNvSpPr txBox="1"/>
          <p:nvPr/>
        </p:nvSpPr>
        <p:spPr>
          <a:xfrm>
            <a:off x="809625" y="314503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Focuses on 1-on-1 link scheduling with external calendar synchronization.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1573F-254C-41DA-BC49-A35B86518726}"/>
              </a:ext>
            </a:extLst>
          </p:cNvPr>
          <p:cNvSpPr txBox="1"/>
          <p:nvPr/>
        </p:nvSpPr>
        <p:spPr>
          <a:xfrm>
            <a:off x="4530625" y="2687835"/>
            <a:ext cx="39132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02 [Ref 2]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FB2EA3-FE32-4B28-8115-3320F07BAA0D}"/>
              </a:ext>
            </a:extLst>
          </p:cNvPr>
          <p:cNvSpPr txBox="1"/>
          <p:nvPr/>
        </p:nvSpPr>
        <p:spPr>
          <a:xfrm>
            <a:off x="4530625" y="2868810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SimplyBook.me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CF27AE-C007-4A73-9084-9474AF6599A2}"/>
              </a:ext>
            </a:extLst>
          </p:cNvPr>
          <p:cNvSpPr txBox="1"/>
          <p:nvPr/>
        </p:nvSpPr>
        <p:spPr>
          <a:xfrm>
            <a:off x="4530625" y="3145035"/>
            <a:ext cx="32258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Multi-service administrative platform with integrated online payment gateways.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327350-664C-4C0D-80FB-CFFC3E40E17D}"/>
              </a:ext>
            </a:extLst>
          </p:cNvPr>
          <p:cNvSpPr txBox="1"/>
          <p:nvPr/>
        </p:nvSpPr>
        <p:spPr>
          <a:xfrm>
            <a:off x="8251775" y="268783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03 [Ref 3]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4F2072-9D78-4803-967C-1D095F947BD0}"/>
              </a:ext>
            </a:extLst>
          </p:cNvPr>
          <p:cNvSpPr txBox="1"/>
          <p:nvPr/>
        </p:nvSpPr>
        <p:spPr>
          <a:xfrm>
            <a:off x="8251775" y="2868810"/>
            <a:ext cx="39402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Acuity Scheduling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357157-8032-4BF9-8D27-384C0FD24879}"/>
              </a:ext>
            </a:extLst>
          </p:cNvPr>
          <p:cNvSpPr txBox="1"/>
          <p:nvPr/>
        </p:nvSpPr>
        <p:spPr>
          <a:xfrm>
            <a:off x="8251775" y="314503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Custom intake forms and automated client reminder notification flows.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CF7C0-326B-461B-8864-1034BFDF2E02}"/>
              </a:ext>
            </a:extLst>
          </p:cNvPr>
          <p:cNvSpPr txBox="1"/>
          <p:nvPr/>
        </p:nvSpPr>
        <p:spPr>
          <a:xfrm>
            <a:off x="809625" y="407848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04 [Ref 4]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76FBB-66C8-4035-8587-4273001BDFED}"/>
              </a:ext>
            </a:extLst>
          </p:cNvPr>
          <p:cNvSpPr txBox="1"/>
          <p:nvPr/>
        </p:nvSpPr>
        <p:spPr>
          <a:xfrm>
            <a:off x="809625" y="4259460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Fresha Enterprise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98C0BE-6163-4305-B3E4-A8AE6F528025}"/>
              </a:ext>
            </a:extLst>
          </p:cNvPr>
          <p:cNvSpPr txBox="1"/>
          <p:nvPr/>
        </p:nvSpPr>
        <p:spPr>
          <a:xfrm>
            <a:off x="809625" y="453568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Salon and spa oriented inventory control tied directly to booking slots.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62C5E3-1C51-46E1-9B86-6E1886D2255E}"/>
              </a:ext>
            </a:extLst>
          </p:cNvPr>
          <p:cNvSpPr txBox="1"/>
          <p:nvPr/>
        </p:nvSpPr>
        <p:spPr>
          <a:xfrm>
            <a:off x="4530625" y="4078485"/>
            <a:ext cx="39132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05 [Ref 5]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0AF772-4D53-40FD-9400-2CBAFA7FE7B8}"/>
              </a:ext>
            </a:extLst>
          </p:cNvPr>
          <p:cNvSpPr txBox="1"/>
          <p:nvPr/>
        </p:nvSpPr>
        <p:spPr>
          <a:xfrm>
            <a:off x="4530625" y="4259460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Setmore Web Platform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18E028-4604-4791-8337-B923985D2F8C}"/>
              </a:ext>
            </a:extLst>
          </p:cNvPr>
          <p:cNvSpPr txBox="1"/>
          <p:nvPr/>
        </p:nvSpPr>
        <p:spPr>
          <a:xfrm>
            <a:off x="4530625" y="4535685"/>
            <a:ext cx="32258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Freemium multi-staff allocation model with localized timezone support.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EE216B-CC8B-41D2-9F11-096D9A4C8F5F}"/>
              </a:ext>
            </a:extLst>
          </p:cNvPr>
          <p:cNvSpPr txBox="1"/>
          <p:nvPr/>
        </p:nvSpPr>
        <p:spPr>
          <a:xfrm>
            <a:off x="8251775" y="4078485"/>
            <a:ext cx="39130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STUDY 06 [Ref 6]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15894A-7C07-4383-B1A3-0FAA39178D5B}"/>
              </a:ext>
            </a:extLst>
          </p:cNvPr>
          <p:cNvSpPr txBox="1"/>
          <p:nvPr/>
        </p:nvSpPr>
        <p:spPr>
          <a:xfrm>
            <a:off x="8251775" y="4259460"/>
            <a:ext cx="39402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Space Grotesk"/>
              </a:rPr>
              <a:t>Open-Source Cal.com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F61CD8-9260-4416-97B2-876EE8E9286B}"/>
              </a:ext>
            </a:extLst>
          </p:cNvPr>
          <p:cNvSpPr txBox="1"/>
          <p:nvPr/>
        </p:nvSpPr>
        <p:spPr>
          <a:xfrm>
            <a:off x="8251775" y="453568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Self-hosted infrastructure emphasizing complete database sovereignty.</a:t>
            </a:r>
          </a:p>
        </p:txBody>
      </p:sp>
    </p:spTree>
    <p:extLst>
      <p:ext uri="{BB962C8B-B14F-4D97-AF65-F5344CB8AC3E}">
        <p14:creationId xmlns:p14="http://schemas.microsoft.com/office/powerpoint/2010/main" val="133334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07DD-A187-47D0-F7D0-D8EFECD8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85F1-EC29-F285-CD6F-1FC6E3D1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B7830-AE76-FA38-8FDC-9C99C8C6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6949F-FA28-8B4A-2632-3CC4A0938BD9}"/>
              </a:ext>
            </a:extLst>
          </p:cNvPr>
          <p:cNvSpPr txBox="1"/>
          <p:nvPr/>
        </p:nvSpPr>
        <p:spPr>
          <a:xfrm>
            <a:off x="251460" y="373461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Comparison of previous studies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89D0E-30DA-485A-BDB3-CF060A1CA201}"/>
              </a:ext>
            </a:extLst>
          </p:cNvPr>
          <p:cNvSpPr/>
          <p:nvPr/>
        </p:nvSpPr>
        <p:spPr>
          <a:xfrm>
            <a:off x="609600" y="2949773"/>
            <a:ext cx="173756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73508-29D1-4E08-9258-9812A73F0855}"/>
              </a:ext>
            </a:extLst>
          </p:cNvPr>
          <p:cNvSpPr/>
          <p:nvPr/>
        </p:nvSpPr>
        <p:spPr>
          <a:xfrm>
            <a:off x="2347168" y="2949773"/>
            <a:ext cx="210770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BCE9E-DFEA-40BF-88E4-8F63AFBAB64F}"/>
              </a:ext>
            </a:extLst>
          </p:cNvPr>
          <p:cNvSpPr/>
          <p:nvPr/>
        </p:nvSpPr>
        <p:spPr>
          <a:xfrm>
            <a:off x="4454872" y="2949773"/>
            <a:ext cx="166821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08C99D-4EA9-48A3-938F-B90150F03E7C}"/>
              </a:ext>
            </a:extLst>
          </p:cNvPr>
          <p:cNvSpPr/>
          <p:nvPr/>
        </p:nvSpPr>
        <p:spPr>
          <a:xfrm>
            <a:off x="6123086" y="2949773"/>
            <a:ext cx="189398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CD21D-6B22-4A40-9CAF-A7FEE9CC650B}"/>
              </a:ext>
            </a:extLst>
          </p:cNvPr>
          <p:cNvSpPr/>
          <p:nvPr/>
        </p:nvSpPr>
        <p:spPr>
          <a:xfrm>
            <a:off x="8017073" y="2949773"/>
            <a:ext cx="356532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ACB66-A150-4AA5-9B07-402CA491A95D}"/>
              </a:ext>
            </a:extLst>
          </p:cNvPr>
          <p:cNvSpPr/>
          <p:nvPr/>
        </p:nvSpPr>
        <p:spPr>
          <a:xfrm>
            <a:off x="609600" y="3383160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8D36EF-11D0-4949-ABD9-0B54A32F5900}"/>
              </a:ext>
            </a:extLst>
          </p:cNvPr>
          <p:cNvSpPr/>
          <p:nvPr/>
        </p:nvSpPr>
        <p:spPr>
          <a:xfrm>
            <a:off x="2347168" y="3383160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400410-E9F3-4865-B1EA-3499AB62541D}"/>
              </a:ext>
            </a:extLst>
          </p:cNvPr>
          <p:cNvSpPr/>
          <p:nvPr/>
        </p:nvSpPr>
        <p:spPr>
          <a:xfrm>
            <a:off x="4454872" y="3383160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C39C53-C871-44D8-8701-7CCA0A229BB4}"/>
              </a:ext>
            </a:extLst>
          </p:cNvPr>
          <p:cNvSpPr/>
          <p:nvPr/>
        </p:nvSpPr>
        <p:spPr>
          <a:xfrm>
            <a:off x="6123086" y="3383160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9E71D1-3AB4-4EA7-9139-0FF49F84200C}"/>
              </a:ext>
            </a:extLst>
          </p:cNvPr>
          <p:cNvSpPr/>
          <p:nvPr/>
        </p:nvSpPr>
        <p:spPr>
          <a:xfrm>
            <a:off x="8017073" y="3383160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C70BC8-EA89-4E03-9D3C-F303DB3E05D3}"/>
              </a:ext>
            </a:extLst>
          </p:cNvPr>
          <p:cNvSpPr/>
          <p:nvPr/>
        </p:nvSpPr>
        <p:spPr>
          <a:xfrm>
            <a:off x="609600" y="3983235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64F4FB-24FD-4741-B140-8F3F3AE9B733}"/>
              </a:ext>
            </a:extLst>
          </p:cNvPr>
          <p:cNvSpPr/>
          <p:nvPr/>
        </p:nvSpPr>
        <p:spPr>
          <a:xfrm>
            <a:off x="2347168" y="3983235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2316C0-F9CA-4E89-BF93-73230C015816}"/>
              </a:ext>
            </a:extLst>
          </p:cNvPr>
          <p:cNvSpPr/>
          <p:nvPr/>
        </p:nvSpPr>
        <p:spPr>
          <a:xfrm>
            <a:off x="4454872" y="3983235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4B0C-DEDE-446F-9001-A838CB98B875}"/>
              </a:ext>
            </a:extLst>
          </p:cNvPr>
          <p:cNvSpPr/>
          <p:nvPr/>
        </p:nvSpPr>
        <p:spPr>
          <a:xfrm>
            <a:off x="6123086" y="3983235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48AA30-151A-4C87-A899-196DB12A8005}"/>
              </a:ext>
            </a:extLst>
          </p:cNvPr>
          <p:cNvSpPr/>
          <p:nvPr/>
        </p:nvSpPr>
        <p:spPr>
          <a:xfrm>
            <a:off x="8017073" y="3983235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7F6177-4D0F-44C1-BF82-BBE213BEE861}"/>
              </a:ext>
            </a:extLst>
          </p:cNvPr>
          <p:cNvSpPr/>
          <p:nvPr/>
        </p:nvSpPr>
        <p:spPr>
          <a:xfrm>
            <a:off x="609600" y="4583310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44D42E-7F3C-4958-8726-C6981E733A31}"/>
              </a:ext>
            </a:extLst>
          </p:cNvPr>
          <p:cNvSpPr/>
          <p:nvPr/>
        </p:nvSpPr>
        <p:spPr>
          <a:xfrm>
            <a:off x="2347168" y="4583310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516DDB-7DC6-4ADB-AAB4-D6E1713DC132}"/>
              </a:ext>
            </a:extLst>
          </p:cNvPr>
          <p:cNvSpPr/>
          <p:nvPr/>
        </p:nvSpPr>
        <p:spPr>
          <a:xfrm>
            <a:off x="4454872" y="4583310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134686-0025-42FF-9661-7F7673EF470B}"/>
              </a:ext>
            </a:extLst>
          </p:cNvPr>
          <p:cNvSpPr/>
          <p:nvPr/>
        </p:nvSpPr>
        <p:spPr>
          <a:xfrm>
            <a:off x="6123086" y="4583310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9AA7F0-302E-4374-A26A-0240B723D100}"/>
              </a:ext>
            </a:extLst>
          </p:cNvPr>
          <p:cNvSpPr/>
          <p:nvPr/>
        </p:nvSpPr>
        <p:spPr>
          <a:xfrm>
            <a:off x="8017073" y="4583310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1288E6-3290-4138-9FB2-94595CD3F6B2}"/>
              </a:ext>
            </a:extLst>
          </p:cNvPr>
          <p:cNvSpPr/>
          <p:nvPr/>
        </p:nvSpPr>
        <p:spPr>
          <a:xfrm>
            <a:off x="609600" y="5183385"/>
            <a:ext cx="1737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910B1F-6A76-489F-A9C7-9B65CA2F51FD}"/>
              </a:ext>
            </a:extLst>
          </p:cNvPr>
          <p:cNvSpPr/>
          <p:nvPr/>
        </p:nvSpPr>
        <p:spPr>
          <a:xfrm>
            <a:off x="2347168" y="5183385"/>
            <a:ext cx="2107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0D595A-8AF3-401E-BDAB-9EFE12AF9469}"/>
              </a:ext>
            </a:extLst>
          </p:cNvPr>
          <p:cNvSpPr/>
          <p:nvPr/>
        </p:nvSpPr>
        <p:spPr>
          <a:xfrm>
            <a:off x="4454872" y="5183385"/>
            <a:ext cx="16682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894BAB-DBAF-4370-9A53-29F29961AB2A}"/>
              </a:ext>
            </a:extLst>
          </p:cNvPr>
          <p:cNvSpPr/>
          <p:nvPr/>
        </p:nvSpPr>
        <p:spPr>
          <a:xfrm>
            <a:off x="6123086" y="5183385"/>
            <a:ext cx="1893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BA7473-28D7-4B5D-9CD0-9C38F2B02621}"/>
              </a:ext>
            </a:extLst>
          </p:cNvPr>
          <p:cNvSpPr/>
          <p:nvPr/>
        </p:nvSpPr>
        <p:spPr>
          <a:xfrm>
            <a:off x="8017073" y="5183385"/>
            <a:ext cx="3565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972A0D9B-89D6-4E44-A86A-270B50228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86" y="4830960"/>
            <a:ext cx="123825" cy="142875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4DD998CA-1FAD-4C43-905D-4C5200D60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4230885"/>
            <a:ext cx="123825" cy="142875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7F403A1D-AE62-42E2-AFA4-0B03D5328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4230885"/>
            <a:ext cx="123825" cy="142875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98FB613D-E3A9-4722-8532-61E6EB83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3630810"/>
            <a:ext cx="123825" cy="142875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7A85E7E2-FB3C-4323-BC08-A01B98010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272" y="4830960"/>
            <a:ext cx="123825" cy="142875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EDC8083E-A5A7-4E23-B17A-6815A0FBC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486" y="3121223"/>
            <a:ext cx="104775" cy="142875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207A87C6-977C-4939-AC83-C9721B72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3630810"/>
            <a:ext cx="123825" cy="142875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F7465360-99DA-49B3-8565-CE11F6EF6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272" y="3121223"/>
            <a:ext cx="123825" cy="142875"/>
          </a:xfrm>
          <a:prstGeom prst="rect">
            <a:avLst/>
          </a:prstGeom>
        </p:spPr>
      </p:pic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9A3C8839-F649-4005-9BB1-80D21A4D8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272" y="3121223"/>
            <a:ext cx="123825" cy="142875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C99666B8-CCA1-4173-B5A2-08FA977B6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486" y="3121223"/>
            <a:ext cx="104775" cy="142875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5E23EF55-F85A-4CC8-9326-8DA7FEEDF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3630810"/>
            <a:ext cx="123825" cy="142875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C0732E31-73CC-455A-9F90-A48CDB6D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3630810"/>
            <a:ext cx="123825" cy="142875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3EF0CC77-AB7B-4EEA-8974-155D2FC88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272" y="4230885"/>
            <a:ext cx="123825" cy="142875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11A91834-B16C-45FE-B620-E35E6886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86" y="4230885"/>
            <a:ext cx="123825" cy="142875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D364CBA9-DCBF-4007-950E-6DCA59741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272" y="4830960"/>
            <a:ext cx="123825" cy="142875"/>
          </a:xfrm>
          <a:prstGeom prst="rect">
            <a:avLst/>
          </a:prstGeom>
        </p:spPr>
      </p:pic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5AC3B0AF-9A74-47B8-B279-7615CF7A4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86" y="4830960"/>
            <a:ext cx="123825" cy="142875"/>
          </a:xfrm>
          <a:prstGeom prst="rect">
            <a:avLst/>
          </a:prstGeom>
        </p:spPr>
      </p:pic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5D5D789-AEC7-4EB0-9DC7-14E08A92FE0A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368748"/>
          <a:ext cx="10972797" cy="2828925"/>
        </p:xfrm>
        <a:graphic>
          <a:graphicData uri="http://schemas.openxmlformats.org/drawingml/2006/table">
            <a:tbl>
              <a:tblPr/>
              <a:tblGrid>
                <a:gridCol w="1737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3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5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System / Study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Tech Stack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 01 (Payments)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 02 (Custom Forms)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Key Strengths &amp; Competitive Advantage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Calendly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React / Ruby on Rails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Basic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Easiest user onboarding &amp; friction-free sharing.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SimplyBook.me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PHP / Vue.js / MySQL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Advanced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Extensive plugin architecture for custom workflows.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Cal.com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Next.js / TypeScript / Postgres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Advanced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source code access and enterprise data privacy.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Our Proposed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Modern Full-Stack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Integrated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Fully Dynamic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Unified service management + optimized real-time slot lock.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27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12627-07FD-457B-3E38-68299376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E5E1-8F32-7A75-D549-1B986529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B202-87AB-2A68-ACDD-C0D1E321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8F884-D39F-11EE-4D51-5280663BEB05}"/>
              </a:ext>
            </a:extLst>
          </p:cNvPr>
          <p:cNvSpPr txBox="1"/>
          <p:nvPr/>
        </p:nvSpPr>
        <p:spPr>
          <a:xfrm>
            <a:off x="283464" y="522851"/>
            <a:ext cx="1044930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General Functional System Requirements: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247E09-863E-D1C2-D722-D9CC5CA55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031681"/>
              </p:ext>
            </p:extLst>
          </p:nvPr>
        </p:nvGraphicFramePr>
        <p:xfrm>
          <a:off x="1581913" y="1152144"/>
          <a:ext cx="9345168" cy="5135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6114">
                  <a:extLst>
                    <a:ext uri="{9D8B030D-6E8A-4147-A177-3AD203B41FA5}">
                      <a16:colId xmlns:a16="http://schemas.microsoft.com/office/drawing/2014/main" val="400285357"/>
                    </a:ext>
                  </a:extLst>
                </a:gridCol>
                <a:gridCol w="7169054">
                  <a:extLst>
                    <a:ext uri="{9D8B030D-6E8A-4147-A177-3AD203B41FA5}">
                      <a16:colId xmlns:a16="http://schemas.microsoft.com/office/drawing/2014/main" val="3544803755"/>
                    </a:ext>
                  </a:extLst>
                </a:gridCol>
              </a:tblGrid>
              <a:tr h="51473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ID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General Functional Requirement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663475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FR-G01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The system must allow users to register, authenticate, and manage profile security settings.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8312416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must allow organizations to manage their profiles, service catalogs, and operational branches or categories.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6855219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must enable the management of employee records, definition of work schedules, and enforcement of daily booking limits to prevent resource overallocation.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307271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system must provide a real-time, conflict-free scheduling mechanism that cross-references customer requests with employee availability and organizational work hours.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0489779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must facilitate the generation, tracking, and management of digital invoices linked to specific appointments and payment methods.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732570"/>
                  </a:ext>
                </a:extLst>
              </a:tr>
              <a:tr h="33806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FR-G06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system shall generate statistical insights and exportable reports regarding enterprise performance, employee productivity, and financial revenue.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80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62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490D0-F977-70A1-C8C6-88865609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2D5F-1736-8A53-76FE-F6C1BE9C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3D76-EC54-70CD-79C9-1B65AD83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76CD9-99C4-9D8A-6CDD-732E379AF4CB}"/>
              </a:ext>
            </a:extLst>
          </p:cNvPr>
          <p:cNvSpPr txBox="1"/>
          <p:nvPr/>
        </p:nvSpPr>
        <p:spPr>
          <a:xfrm>
            <a:off x="1524" y="271735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B8C2D6-3930-46F6-BAC5-1CEB7B853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29154"/>
              </p:ext>
            </p:extLst>
          </p:nvPr>
        </p:nvGraphicFramePr>
        <p:xfrm>
          <a:off x="838200" y="1276350"/>
          <a:ext cx="10515600" cy="4457601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5010111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749897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55027922"/>
                    </a:ext>
                  </a:extLst>
                </a:gridCol>
              </a:tblGrid>
              <a:tr h="2634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ID</a:t>
                      </a:r>
                      <a:endParaRPr lang="en-US" sz="10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Description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Non-Functional Requirement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6830117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NFR-01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adapt seamlessly to desktop, tablet, and mobile screens using Bootstrap 5.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Responsive Design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538872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NFR-02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provide a native Arabic interface with full Right-to-Left (RTL) layout optimization.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Localization (RTL)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3654818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NFR-03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User passwords shall be encrypted using PBKDF2 hashing, and sessions shall be securely managed.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Security &amp; Privacy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6879811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NFR-04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prevent Cross-Site Request Forgery (CSRF) and SQL Injection via Django ORM.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Data Integrity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2236913"/>
                  </a:ext>
                </a:extLst>
              </a:tr>
              <a:tr h="850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NFR-05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architecture (MVT) shall allow for the seamless addition of future modules without refactoring core code.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Scalability &amp; Extensibility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6158735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NFR-06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system shall maintain comprehensive logs for administrative actions and error tracking.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Maintainability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3196603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NFR-07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The user interface shall be intuitive, requiring minimal training for non-technical small business owners.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Usability</a:t>
                      </a:r>
                      <a:endParaRPr lang="en-US" sz="10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244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40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7413-4A80-7A0A-CB0B-B1C55BC2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96BA6-32B1-D3CE-5D0F-8B0F7DCC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85B69-20DE-8D7B-2FF6-B020A9BD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36810-8581-F1F0-2198-A22F32810AD5}"/>
              </a:ext>
            </a:extLst>
          </p:cNvPr>
          <p:cNvSpPr txBox="1"/>
          <p:nvPr/>
        </p:nvSpPr>
        <p:spPr>
          <a:xfrm>
            <a:off x="148400" y="188659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Functional requirements for the current project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7A2248-C6AD-4F4D-A2A6-07DF514C8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827450"/>
              </p:ext>
            </p:extLst>
          </p:nvPr>
        </p:nvGraphicFramePr>
        <p:xfrm>
          <a:off x="552448" y="678858"/>
          <a:ext cx="10801352" cy="6154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4013811805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53956769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361896993"/>
                    </a:ext>
                  </a:extLst>
                </a:gridCol>
                <a:gridCol w="4610102">
                  <a:extLst>
                    <a:ext uri="{9D8B030D-6E8A-4147-A177-3AD203B41FA5}">
                      <a16:colId xmlns:a16="http://schemas.microsoft.com/office/drawing/2014/main" val="3404430803"/>
                    </a:ext>
                  </a:extLst>
                </a:gridCol>
              </a:tblGrid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Requirement</a:t>
                      </a: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547620435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REQ-020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Create user accounts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Create new accounts for users who want to use the system.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98742116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REQ-021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an organization profile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an organization profile with name, description and services.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76734155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Edit an organization profile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Edit a previously added profile.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96204609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REQ-023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profile of the institution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previously added organization profile.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84090127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 service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 new service to the list of services provided by the organization.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215453790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REQ-025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Service modification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previously added service data.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71520259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REQ-026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service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Deleting a previously added service.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290043872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REQ-027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Changing a service status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previously listed service (activation, deactivation).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66799578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REQ-028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an employee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 new employee to the list of employees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798432137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REQ-029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Modification of employee data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the data of a previously listed employee.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344041469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REQ-030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an employee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previously listed employee.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421872177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REQ-031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employee account status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previously listed employee account (activation, deactivation).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681428223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employees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employees within the organization.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244141215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an employee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an employee in personnel records.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488579261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Find a date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Find an appointment in appointment logs.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635024842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REQ-035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user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user in user logs.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90420264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REQ-036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service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for a service in the service logs.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54712701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REQ-037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appointment list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appointments booked within the institution.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4113040252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REQ-038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Limit the maximum daily bookings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Determine the maximum number of appointments that the institution receives daily.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223051302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REQ-039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Enterprise statistics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comprehensive statistics on the work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79387074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REQ-040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Export Enterprise reports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Export comprehensive reports on the work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402959834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REQ-041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Enterprise ratings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ratings provided by customers for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599654538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REQ-042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Adding a new payment method to the list of payment methods.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2039578806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REQ-043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Modify a previously listed payment method.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1353112880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Delete a previously listed payment method.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578951724"/>
                  </a:ext>
                </a:extLst>
              </a:tr>
              <a:tr h="206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REQ-045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payment method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Change the status of a previously listed payment method (activation, deactivation).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842913194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REQ-046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payment methods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View the list of listed payment methods.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286559137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REQ-047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Determining the work schedule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Determination of working days and working hours of the enterprise.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3530572254"/>
                  </a:ext>
                </a:extLst>
              </a:tr>
              <a:tr h="174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REQ-048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Adjusting the work schedule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Modification of Enterprise Work Data.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798" marR="21798" marT="0" marB="0" anchor="ctr"/>
                </a:tc>
                <a:extLst>
                  <a:ext uri="{0D108BD9-81ED-4DB2-BD59-A6C34878D82A}">
                    <a16:rowId xmlns:a16="http://schemas.microsoft.com/office/drawing/2014/main" val="854083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07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43481-1474-F6FB-E26F-234BCCE3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C852-467C-BAA7-9AA2-ED3CA591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59B6-EF1D-127F-DE97-C8FB9F03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2A0AE-4E08-201B-39E7-C0595AAEF0C8}"/>
              </a:ext>
            </a:extLst>
          </p:cNvPr>
          <p:cNvSpPr txBox="1"/>
          <p:nvPr/>
        </p:nvSpPr>
        <p:spPr>
          <a:xfrm>
            <a:off x="169164" y="431183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Development Methodology: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588DF-E1CE-4148-8A6F-B00330ADBFF6}"/>
              </a:ext>
            </a:extLst>
          </p:cNvPr>
          <p:cNvSpPr txBox="1"/>
          <p:nvPr/>
        </p:nvSpPr>
        <p:spPr>
          <a:xfrm>
            <a:off x="514349" y="921382"/>
            <a:ext cx="10982326" cy="531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1: Foundation &amp; Core Admin (Completed - Increment 1)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1-4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Completion of REQ-001 to REQ-019 (Authentication, Cities, Categories, Basic Providers).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2: Enterprise &amp; HR Expansion (Current Phase - Increment 2)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5-8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Implementation of REQ-020 to REQ-038 (Organization Profiles, Employee Management, Work Schedules, Advanced Booking Logic).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3: Financial Module </a:t>
            </a:r>
            <a:r>
              <a:rPr lang="en-US" sz="1100" b="1" kern="10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&amp; Analytics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9-11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Implementation of REQ-039 to REQ-048 (Invoicing, Payment Methods, Statistics, Reports).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4: Integration Testing &amp; Refinement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 12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System-wide testing, bug fixing, and RTL UI polishing.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Phase 5: Documentation &amp; Final Submission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Duration: Weeks 13-14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Milestone: Finalizing the academic report, preparing the presentation, and project defense.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19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86D7-737F-883F-4763-97835B7B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7AA4-2DE6-2DB1-C9EE-4F0AC41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Senior-1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8C7D9-B29E-EE99-58C1-F5694697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4BE27-27D0-9F26-4991-C1922E4AD8DB}"/>
              </a:ext>
            </a:extLst>
          </p:cNvPr>
          <p:cNvSpPr txBox="1"/>
          <p:nvPr/>
        </p:nvSpPr>
        <p:spPr>
          <a:xfrm>
            <a:off x="376047" y="136525"/>
            <a:ext cx="6094476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2F549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Project Plan (Gantt Chart)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BA11A4-646A-4CAC-8BBB-CC9D75F0880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4" y="1447800"/>
            <a:ext cx="8143874" cy="4486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432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1294</Words>
  <Application>Microsoft Office PowerPoint</Application>
  <PresentationFormat>Widescreen</PresentationFormat>
  <Paragraphs>280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Plus Jakarta Sans</vt:lpstr>
      <vt:lpstr>Space Grotesk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akram massouh</dc:creator>
  <cp:lastModifiedBy>belal haidar</cp:lastModifiedBy>
  <cp:revision>55</cp:revision>
  <dcterms:created xsi:type="dcterms:W3CDTF">2026-10-17T18:22:22Z</dcterms:created>
  <dcterms:modified xsi:type="dcterms:W3CDTF">2026-10-28T08:31:44Z</dcterms:modified>
</cp:coreProperties>
</file>